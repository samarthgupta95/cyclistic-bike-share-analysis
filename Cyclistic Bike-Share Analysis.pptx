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49CED5-648A-C5A5-C705-DF1708532855}" name="Samarth Gupta" initials="SG" userId="d85a2b851bd63f3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67B76-B1E6-4492-A055-79AE41013BA3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81B45-1DA6-4D9D-8CA7-11A011E195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96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1B45-1DA6-4D9D-8CA7-11A011E195F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325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81B45-1DA6-4D9D-8CA7-11A011E195F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777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gsamarth42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samarth-gupta-90b53a30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06E4-0845-A189-5546-15518382CE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b="1" dirty="0" err="1"/>
              <a:t>Cyclistic</a:t>
            </a:r>
            <a:r>
              <a:rPr lang="en-IN" sz="4400" b="1" dirty="0"/>
              <a:t> Bike-Share Analysis</a:t>
            </a:r>
            <a:br>
              <a:rPr lang="en-IN" sz="4400" dirty="0"/>
            </a:br>
            <a:br>
              <a:rPr lang="en-IN" sz="5400" dirty="0"/>
            </a:br>
            <a:r>
              <a:rPr lang="en-US" sz="1800" dirty="0"/>
              <a:t>Understanding How Annual Members and Casual Riders Use Bikes Differently </a:t>
            </a:r>
            <a:endParaRPr lang="en-IN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ECA6C-604D-5318-9B37-E352D54F7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Samarth Gupta</a:t>
            </a:r>
            <a:br>
              <a:rPr lang="en-US" dirty="0"/>
            </a:br>
            <a:r>
              <a:rPr lang="en-US" dirty="0"/>
              <a:t>Tools: SQL, Excel, R, Tableau</a:t>
            </a:r>
            <a:br>
              <a:rPr lang="en-US" dirty="0"/>
            </a:br>
            <a:r>
              <a:rPr lang="en-US" dirty="0"/>
              <a:t>Date: 08/12/2025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575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D074-AB51-4464-8B4E-697BF0EB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CD1A-CC80-F7FE-4E1C-43F651D96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Business Task</a:t>
            </a:r>
            <a:br>
              <a:rPr lang="en-US" sz="2400" dirty="0"/>
            </a:br>
            <a:r>
              <a:rPr lang="en-US" sz="2400" dirty="0"/>
              <a:t>Identify how annual members and casual riders use </a:t>
            </a:r>
            <a:r>
              <a:rPr lang="en-US" sz="2400" dirty="0" err="1"/>
              <a:t>Cyclistic</a:t>
            </a:r>
            <a:r>
              <a:rPr lang="en-US" sz="2400" dirty="0"/>
              <a:t> bikes differently and provide insights that support marketing strategies to convert casual riders into annual members.</a:t>
            </a:r>
          </a:p>
          <a:p>
            <a:r>
              <a:rPr lang="en-US" sz="2400" b="1" dirty="0"/>
              <a:t>Objective</a:t>
            </a:r>
            <a:br>
              <a:rPr lang="en-US" sz="2400" dirty="0"/>
            </a:br>
            <a:r>
              <a:rPr lang="en-US" sz="2400" dirty="0"/>
              <a:t>Deliver data-driven insights and recommendations to help improve membership conversions and increase long-term revenue for </a:t>
            </a:r>
            <a:r>
              <a:rPr lang="en-US" sz="2400" dirty="0" err="1"/>
              <a:t>Cyclistic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92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B2A0-5CE2-674D-32AD-D3A13900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093839"/>
          </a:xfrm>
        </p:spPr>
        <p:txBody>
          <a:bodyPr/>
          <a:lstStyle/>
          <a:p>
            <a:r>
              <a:rPr lang="en-IN" b="1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592A3-2304-15F1-D891-AB55AD68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79639"/>
            <a:ext cx="9601200" cy="40582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 Sources :</a:t>
            </a:r>
            <a:endParaRPr lang="en-US" dirty="0"/>
          </a:p>
          <a:p>
            <a:r>
              <a:rPr lang="en-US" dirty="0"/>
              <a:t>12 months of </a:t>
            </a:r>
            <a:r>
              <a:rPr lang="en-US" dirty="0" err="1"/>
              <a:t>Cyclistic</a:t>
            </a:r>
            <a:r>
              <a:rPr lang="en-US" dirty="0"/>
              <a:t> historical trip data (CSV format)</a:t>
            </a:r>
          </a:p>
          <a:p>
            <a:r>
              <a:rPr lang="en-US" dirty="0"/>
              <a:t>~5–6 million rows of trip-level records</a:t>
            </a:r>
          </a:p>
          <a:p>
            <a:r>
              <a:rPr lang="en-US" dirty="0"/>
              <a:t>Public data provided by Motivate International (via Google Data Analytics Case Study)</a:t>
            </a:r>
          </a:p>
          <a:p>
            <a:pPr marL="0" indent="0">
              <a:buNone/>
            </a:pPr>
            <a:r>
              <a:rPr lang="en-US" b="1" dirty="0"/>
              <a:t>Tools Used :</a:t>
            </a:r>
            <a:endParaRPr lang="en-US" dirty="0"/>
          </a:p>
          <a:p>
            <a:r>
              <a:rPr lang="en-US" dirty="0"/>
              <a:t>Excel for initial cleaning</a:t>
            </a:r>
          </a:p>
          <a:p>
            <a:r>
              <a:rPr lang="en-US" dirty="0"/>
              <a:t>SQL for transformation, validation, and descriptive statistics</a:t>
            </a:r>
          </a:p>
          <a:p>
            <a:r>
              <a:rPr lang="en-US" dirty="0"/>
              <a:t>R for additional analysis</a:t>
            </a:r>
          </a:p>
          <a:p>
            <a:r>
              <a:rPr lang="en-US" dirty="0"/>
              <a:t>Tableau for visualization and dashboard creation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21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F68-6417-5524-B6F1-A9384DF5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42D5-68DF-9B66-B1EF-1B4E2ED5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81315"/>
            <a:ext cx="9601200" cy="46899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Steps Taken :</a:t>
            </a:r>
            <a:endParaRPr lang="en-US" dirty="0"/>
          </a:p>
          <a:p>
            <a:r>
              <a:rPr lang="en-US" dirty="0"/>
              <a:t>Converted and standardized datetime formats</a:t>
            </a:r>
          </a:p>
          <a:p>
            <a:r>
              <a:rPr lang="en-US" dirty="0"/>
              <a:t>Removed null values, duplicates, and negative ride lengths</a:t>
            </a:r>
          </a:p>
          <a:p>
            <a:r>
              <a:rPr lang="en-US" dirty="0"/>
              <a:t>Created new fields:</a:t>
            </a:r>
          </a:p>
          <a:p>
            <a:pPr lvl="1"/>
            <a:r>
              <a:rPr lang="en-US" b="1" dirty="0" err="1"/>
              <a:t>ride_length</a:t>
            </a:r>
            <a:r>
              <a:rPr lang="en-US" dirty="0"/>
              <a:t> (duration of each ride)</a:t>
            </a:r>
          </a:p>
          <a:p>
            <a:pPr lvl="1"/>
            <a:r>
              <a:rPr lang="en-US" b="1" dirty="0" err="1"/>
              <a:t>day_of_week</a:t>
            </a:r>
            <a:endParaRPr lang="en-US" b="1" dirty="0"/>
          </a:p>
          <a:p>
            <a:pPr lvl="1"/>
            <a:r>
              <a:rPr lang="en-US" b="1" dirty="0" err="1"/>
              <a:t>month_name</a:t>
            </a:r>
            <a:endParaRPr lang="en-US" b="1" dirty="0"/>
          </a:p>
          <a:p>
            <a:pPr lvl="1"/>
            <a:r>
              <a:rPr lang="en-US" b="1" dirty="0"/>
              <a:t>year</a:t>
            </a:r>
          </a:p>
          <a:p>
            <a:r>
              <a:rPr lang="en-US" dirty="0"/>
              <a:t>Validated data integrity across tools</a:t>
            </a:r>
          </a:p>
          <a:p>
            <a:r>
              <a:rPr lang="en-US" dirty="0"/>
              <a:t>Merged all 12 months into a single cleaned dataset</a:t>
            </a:r>
          </a:p>
          <a:p>
            <a:r>
              <a:rPr lang="en-US" dirty="0"/>
              <a:t>Exported aggregated data for analysis and visualization</a:t>
            </a:r>
          </a:p>
          <a:p>
            <a:pPr marL="0" indent="0">
              <a:buNone/>
            </a:pPr>
            <a:r>
              <a:rPr lang="en-US" b="1" dirty="0"/>
              <a:t>Outcome :</a:t>
            </a:r>
            <a:br>
              <a:rPr lang="en-US" dirty="0"/>
            </a:br>
            <a:r>
              <a:rPr lang="en-US" dirty="0"/>
              <a:t>A clean, consistent dataset ready for descriptive and behavioral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99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0E50-29DE-A9E6-EAB8-2B8750EA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F900-860B-182E-B3FC-DEA26EED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58297"/>
            <a:ext cx="9601200" cy="4444180"/>
          </a:xfrm>
        </p:spPr>
        <p:txBody>
          <a:bodyPr>
            <a:normAutofit/>
          </a:bodyPr>
          <a:lstStyle/>
          <a:p>
            <a:r>
              <a:rPr lang="en-US" b="1" dirty="0"/>
              <a:t>1. Members ride more frequently but for shorter durations</a:t>
            </a:r>
            <a:br>
              <a:rPr lang="en-US" dirty="0"/>
            </a:br>
            <a:r>
              <a:rPr lang="en-US" dirty="0"/>
              <a:t>Suggests routine, commute-focused usage.</a:t>
            </a:r>
          </a:p>
          <a:p>
            <a:r>
              <a:rPr lang="en-US" b="1" dirty="0"/>
              <a:t>2. Casual riders mostly ride on weekends</a:t>
            </a:r>
            <a:br>
              <a:rPr lang="en-US" dirty="0"/>
            </a:br>
            <a:r>
              <a:rPr lang="en-US" dirty="0"/>
              <a:t>Indicates leisure &amp; tourism-driven behavior.</a:t>
            </a:r>
          </a:p>
          <a:p>
            <a:r>
              <a:rPr lang="en-US" b="1" dirty="0"/>
              <a:t>3. Members ride consistently across all days of the week</a:t>
            </a:r>
            <a:br>
              <a:rPr lang="en-US" dirty="0"/>
            </a:br>
            <a:r>
              <a:rPr lang="en-US" dirty="0"/>
              <a:t>Strong indicator of habitual weekday commuting.</a:t>
            </a:r>
          </a:p>
          <a:p>
            <a:r>
              <a:rPr lang="en-US" b="1" dirty="0"/>
              <a:t>4. Casual riders have significantly longer average ride durations</a:t>
            </a:r>
            <a:br>
              <a:rPr lang="en-US" dirty="0"/>
            </a:br>
            <a:r>
              <a:rPr lang="en-US" dirty="0"/>
              <a:t>Leisure/tourist behavior leading to exploratory rides.</a:t>
            </a:r>
          </a:p>
          <a:p>
            <a:r>
              <a:rPr lang="en-US" b="1" dirty="0"/>
              <a:t>5. Seasonal patterns show heavy summer usage from casual riders</a:t>
            </a:r>
            <a:br>
              <a:rPr lang="en-US" dirty="0"/>
            </a:br>
            <a:r>
              <a:rPr lang="en-US" dirty="0"/>
              <a:t>Membership conversion opportunities peak in warm months.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67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00AA-9475-4596-550B-4630E18D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73" y="138880"/>
            <a:ext cx="9996827" cy="661219"/>
          </a:xfrm>
        </p:spPr>
        <p:txBody>
          <a:bodyPr>
            <a:normAutofit/>
          </a:bodyPr>
          <a:lstStyle/>
          <a:p>
            <a:r>
              <a:rPr lang="en-IN" sz="3200" b="1" dirty="0"/>
              <a:t>VISUAL HIGHLIGHTS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4B10BE-9C15-3076-50B6-221DF7D34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5974" y="800098"/>
            <a:ext cx="6398220" cy="2747480"/>
          </a:xfrm>
          <a:ln>
            <a:solidFill>
              <a:schemeClr val="tx2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ABD836-772B-84E7-79A1-AB7F86FBD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45" y="800098"/>
            <a:ext cx="4581830" cy="274748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228752-C730-7E78-DFC4-95924C561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73" y="3674021"/>
            <a:ext cx="6083588" cy="305414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E7885E-8D09-9D43-221F-45DD17ED3DF1}"/>
              </a:ext>
            </a:extLst>
          </p:cNvPr>
          <p:cNvSpPr txBox="1"/>
          <p:nvPr/>
        </p:nvSpPr>
        <p:spPr>
          <a:xfrm>
            <a:off x="7167716" y="3769933"/>
            <a:ext cx="4925961" cy="2862322"/>
          </a:xfrm>
          <a:prstGeom prst="rect">
            <a:avLst/>
          </a:prstGeom>
          <a:noFill/>
          <a:ln w="2222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b="1" dirty="0"/>
              <a:t>Avg Ride Duration Trend</a:t>
            </a:r>
          </a:p>
          <a:p>
            <a:r>
              <a:rPr lang="en-US" sz="1500" dirty="0"/>
              <a:t>Members and casual riders show a clear duration gap, with casual users consistently taking longer rides across all months.</a:t>
            </a:r>
          </a:p>
          <a:p>
            <a:r>
              <a:rPr lang="en-US" sz="1500" b="1" dirty="0"/>
              <a:t>Members vs Casuals (Pie Chart)</a:t>
            </a:r>
          </a:p>
          <a:p>
            <a:r>
              <a:rPr lang="en-US" sz="1500" dirty="0"/>
              <a:t>Members account for the majority of total rides, highlighting strong recurring usage compared to casual riders.</a:t>
            </a:r>
          </a:p>
          <a:p>
            <a:r>
              <a:rPr lang="en-US" sz="1500" b="1" dirty="0"/>
              <a:t>Weekly Ride Distribution</a:t>
            </a:r>
          </a:p>
          <a:p>
            <a:r>
              <a:rPr lang="en-US" sz="1500" dirty="0"/>
              <a:t>Members ride more consistently through weekdays, while casual usage peaks on weekends, reflecting leisure-oriented behavior.</a:t>
            </a:r>
          </a:p>
        </p:txBody>
      </p:sp>
    </p:spTree>
    <p:extLst>
      <p:ext uri="{BB962C8B-B14F-4D97-AF65-F5344CB8AC3E}">
        <p14:creationId xmlns:p14="http://schemas.microsoft.com/office/powerpoint/2010/main" val="274270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542E7-D104-1EB7-79CE-621AA6C0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INSIGHT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570A-0007-0252-E8C1-44CCC39A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040193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What the Data Tells Us :</a:t>
            </a:r>
            <a:endParaRPr lang="en-US" sz="2800" dirty="0"/>
          </a:p>
          <a:p>
            <a:r>
              <a:rPr lang="en-US" sz="2800" dirty="0"/>
              <a:t>Members behave like commuters.</a:t>
            </a:r>
          </a:p>
          <a:p>
            <a:r>
              <a:rPr lang="en-US" sz="2800" dirty="0"/>
              <a:t>Casual riders behave like tourists or weekend explorers.</a:t>
            </a:r>
          </a:p>
          <a:p>
            <a:r>
              <a:rPr lang="en-US" sz="2800" dirty="0"/>
              <a:t>Usage behavior is predictable and clearly segmented.</a:t>
            </a:r>
          </a:p>
          <a:p>
            <a:r>
              <a:rPr lang="en-US" sz="2800" dirty="0"/>
              <a:t>Marketing efforts can be tailored around these patterns to maximize conversions.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17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48D2-F23D-95F5-DEAB-5AF204DE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3" y="383457"/>
            <a:ext cx="10933470" cy="550607"/>
          </a:xfrm>
        </p:spPr>
        <p:txBody>
          <a:bodyPr>
            <a:noAutofit/>
          </a:bodyPr>
          <a:lstStyle/>
          <a:p>
            <a:r>
              <a:rPr lang="en-US" sz="4000" b="1" dirty="0"/>
              <a:t>Strategic Recommendations</a:t>
            </a:r>
            <a:endParaRPr lang="en-IN" sz="40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7BCD14-96F5-57AD-810A-D7BB29A46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065" y="1160205"/>
            <a:ext cx="11257935" cy="5697795"/>
          </a:xfrm>
        </p:spPr>
        <p:txBody>
          <a:bodyPr numCol="3"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3100" b="1" dirty="0"/>
              <a:t>                     </a:t>
            </a:r>
            <a:r>
              <a:rPr lang="en-US" sz="8800" b="1" dirty="0"/>
              <a:t>Recommendation 1:               Convert High-Value Casual Riders (Weekend Offers)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800" b="1" dirty="0"/>
              <a:t>Insight:</a:t>
            </a:r>
            <a:r>
              <a:rPr lang="en-US" sz="8800" dirty="0"/>
              <a:t> Casual usage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800" dirty="0"/>
              <a:t>peaks on weekends &amp;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800" dirty="0"/>
              <a:t>summer.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800" dirty="0"/>
              <a:t>- </a:t>
            </a:r>
            <a:r>
              <a:rPr lang="en-US" sz="8800" b="1" dirty="0"/>
              <a:t>Strategy :</a:t>
            </a:r>
            <a:endParaRPr lang="en-US" sz="8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800" dirty="0"/>
              <a:t>Launch “Weekend Commuter Lite” trial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800" dirty="0"/>
              <a:t>      passes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800" dirty="0"/>
              <a:t>Seasonal discounts + instant upgrade QR codes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800" b="1" dirty="0"/>
              <a:t>Outcome:</a:t>
            </a:r>
            <a:r>
              <a:rPr lang="en-US" sz="8800" dirty="0"/>
              <a:t> Higher trial-to-membership conversions during peak demand.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8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800" b="1" dirty="0"/>
              <a:t>       </a:t>
            </a:r>
            <a:r>
              <a:rPr lang="en-IN" sz="8800" b="1" dirty="0"/>
              <a:t>Recommendation 2: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8800" b="1" dirty="0"/>
              <a:t>  Target Tourists &amp; Leisure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8800" b="1" dirty="0"/>
              <a:t>   Riders (Location-Based Ads)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8800" b="1" dirty="0"/>
              <a:t>Insight:</a:t>
            </a:r>
            <a:r>
              <a:rPr lang="en-IN" sz="8800" dirty="0"/>
              <a:t> Casual ridership clusters around tourist zones.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8800" dirty="0"/>
              <a:t>- </a:t>
            </a:r>
            <a:r>
              <a:rPr lang="en-IN" sz="8800" b="1" dirty="0"/>
              <a:t>Strategy:</a:t>
            </a:r>
            <a:endParaRPr lang="en-IN" sz="8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8800" dirty="0"/>
              <a:t>Geo-targeted ads (Maps, Instagram, app prompts)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8800" dirty="0"/>
              <a:t>Promote value bundles &amp; upgrade savings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8800" b="1" dirty="0"/>
              <a:t>Outcome:</a:t>
            </a:r>
            <a:r>
              <a:rPr lang="en-IN" sz="8800" dirty="0"/>
              <a:t> Increased acquisition from high-traffic casual segments.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8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8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sz="8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800" b="1" dirty="0"/>
              <a:t>       Recommendation 3:         Position Membership as the   Best Commuter Option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800" b="1" dirty="0"/>
              <a:t>Insight:</a:t>
            </a:r>
            <a:r>
              <a:rPr lang="en-US" sz="8800" dirty="0"/>
              <a:t> Members show consistent weekday commuting patterns.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800" dirty="0"/>
              <a:t>- </a:t>
            </a:r>
            <a:r>
              <a:rPr lang="en-US" sz="8800" b="1" dirty="0"/>
              <a:t>Strategy:</a:t>
            </a:r>
            <a:endParaRPr lang="en-US" sz="8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000" dirty="0"/>
              <a:t>Cost-saving messaging for repeat casual riders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000" dirty="0"/>
              <a:t>Introduce “Commute Guarantee” perks (priority docking, early unlocks)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8000" b="1" dirty="0"/>
              <a:t>Outcome:</a:t>
            </a:r>
            <a:r>
              <a:rPr lang="en-US" sz="8000" dirty="0"/>
              <a:t> More repeat casual riders convert to long-term members</a:t>
            </a:r>
            <a:r>
              <a:rPr lang="en-US" sz="8800" dirty="0"/>
              <a:t>. </a:t>
            </a:r>
          </a:p>
          <a:p>
            <a:pPr>
              <a:lnSpc>
                <a:spcPct val="120000"/>
              </a:lnSpc>
            </a:pPr>
            <a:endParaRPr lang="en-US" sz="8800" dirty="0"/>
          </a:p>
          <a:p>
            <a:pPr marL="0" indent="0">
              <a:spcBef>
                <a:spcPts val="0"/>
              </a:spcBef>
              <a:buNone/>
            </a:pPr>
            <a:endParaRPr lang="en-IN" sz="22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9BE94E5D-0E66-58AB-9DD7-793AD3D014B1}"/>
              </a:ext>
            </a:extLst>
          </p:cNvPr>
          <p:cNvSpPr/>
          <p:nvPr/>
        </p:nvSpPr>
        <p:spPr>
          <a:xfrm>
            <a:off x="4650657" y="1253614"/>
            <a:ext cx="484632" cy="3048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704E6E1-2134-76CB-8330-FC73DBCDA481}"/>
              </a:ext>
            </a:extLst>
          </p:cNvPr>
          <p:cNvSpPr/>
          <p:nvPr/>
        </p:nvSpPr>
        <p:spPr>
          <a:xfrm>
            <a:off x="1053476" y="1253614"/>
            <a:ext cx="484632" cy="3048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95EF290C-A8EB-AA28-08CB-69D38E380358}"/>
              </a:ext>
            </a:extLst>
          </p:cNvPr>
          <p:cNvSpPr/>
          <p:nvPr/>
        </p:nvSpPr>
        <p:spPr>
          <a:xfrm>
            <a:off x="8352503" y="1253614"/>
            <a:ext cx="484632" cy="3048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65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EAF7-44F1-87AD-E7A9-5863A6BF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66136"/>
            <a:ext cx="9601200" cy="1093839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CF07-8FAA-23E2-37CA-2D623E29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543664"/>
            <a:ext cx="96012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Conclusion :</a:t>
            </a:r>
            <a:br>
              <a:rPr lang="en-IN" dirty="0"/>
            </a:br>
            <a:r>
              <a:rPr lang="en-IN" dirty="0" err="1"/>
              <a:t>Cyclistic</a:t>
            </a:r>
            <a:r>
              <a:rPr lang="en-IN" dirty="0"/>
              <a:t> can significantly improve annual membership conversion by tailoring marketing strategies to distinct rider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Deliverables Included :</a:t>
            </a:r>
            <a:endParaRPr lang="en-IN" dirty="0"/>
          </a:p>
          <a:p>
            <a:r>
              <a:rPr lang="en-IN" dirty="0"/>
              <a:t>Cleaned dataset</a:t>
            </a:r>
          </a:p>
          <a:p>
            <a:r>
              <a:rPr lang="en-IN" dirty="0"/>
              <a:t>SQL scripts for analysis</a:t>
            </a:r>
          </a:p>
          <a:p>
            <a:r>
              <a:rPr lang="en-IN" dirty="0"/>
              <a:t>R markdown + R scripts</a:t>
            </a:r>
          </a:p>
          <a:p>
            <a:r>
              <a:rPr lang="en-IN" dirty="0"/>
              <a:t>Tableau dashboard + visual insights</a:t>
            </a:r>
          </a:p>
          <a:p>
            <a:r>
              <a:rPr lang="en-IN" dirty="0"/>
              <a:t>Business recommendations &amp; story presentation</a:t>
            </a:r>
          </a:p>
          <a:p>
            <a:r>
              <a:rPr lang="en-IN" b="1"/>
              <a:t>GitHub Repo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90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5336-74BB-C467-5E8E-A949906F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3" y="1376515"/>
            <a:ext cx="10269793" cy="92423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/>
              <a:t>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D472-1DDC-D634-F3F1-D81EE0756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102" y="2694037"/>
            <a:ext cx="10269794" cy="31438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/>
              <a:t>Samarth Gupta</a:t>
            </a:r>
            <a:br>
              <a:rPr lang="en-US" sz="3600" dirty="0"/>
            </a:br>
            <a:r>
              <a:rPr lang="en-US" sz="3200" dirty="0">
                <a:hlinkClick r:id="rId3"/>
              </a:rPr>
              <a:t>gsamarth42@gmail.com</a:t>
            </a:r>
            <a:r>
              <a:rPr lang="en-US" sz="3200" dirty="0"/>
              <a:t> </a:t>
            </a:r>
            <a:r>
              <a:rPr lang="en-US" sz="3600" dirty="0"/>
              <a:t>| </a:t>
            </a:r>
            <a:r>
              <a:rPr lang="en-US" sz="3600" dirty="0">
                <a:hlinkClick r:id="rId4"/>
              </a:rPr>
              <a:t>LinkedIn</a:t>
            </a:r>
            <a:r>
              <a:rPr lang="en-US" sz="3600" dirty="0"/>
              <a:t> | GitHub</a:t>
            </a:r>
          </a:p>
        </p:txBody>
      </p:sp>
    </p:spTree>
    <p:extLst>
      <p:ext uri="{BB962C8B-B14F-4D97-AF65-F5344CB8AC3E}">
        <p14:creationId xmlns:p14="http://schemas.microsoft.com/office/powerpoint/2010/main" val="124019590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{61B1A56C-E0B6-4679-8C42-88276E00DF52}tf10001105</Template>
  <TotalTime>119</TotalTime>
  <Words>651</Words>
  <Application>Microsoft Office PowerPoint</Application>
  <PresentationFormat>Widescreen</PresentationFormat>
  <Paragraphs>93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Franklin Gothic Book</vt:lpstr>
      <vt:lpstr>Crop</vt:lpstr>
      <vt:lpstr>Cyclistic Bike-Share Analysis  Understanding How Annual Members and Casual Riders Use Bikes Differently </vt:lpstr>
      <vt:lpstr>BUSINESS TASK</vt:lpstr>
      <vt:lpstr>DATA SOURCES</vt:lpstr>
      <vt:lpstr>DATA CLEANING &amp; PREPARATION</vt:lpstr>
      <vt:lpstr>KEY INSIGHTS</vt:lpstr>
      <vt:lpstr>VISUAL HIGHLIGHTS</vt:lpstr>
      <vt:lpstr>INSIGHT SUMMARY</vt:lpstr>
      <vt:lpstr>Strategic Recommendations</vt:lpstr>
      <vt:lpstr>CONCLUSION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Samarth Gupta</dc:creator>
  <cp:lastModifiedBy>Samarth Gupta</cp:lastModifiedBy>
  <cp:revision>8</cp:revision>
  <dcterms:created xsi:type="dcterms:W3CDTF">2025-12-08T17:38:58Z</dcterms:created>
  <dcterms:modified xsi:type="dcterms:W3CDTF">2025-12-09T16:23:03Z</dcterms:modified>
</cp:coreProperties>
</file>